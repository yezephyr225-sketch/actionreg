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29260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defRPr sz="1300" b="1">
                <a:solidFill>
                  <a:srgbClr val="1B4F72"/>
                </a:solidFill>
                <a:latin typeface="Arial"/>
              </a:defRPr>
            </a:pPr>
            <a:r>
              <a:t>Overall ST-GCN Architecture</a:t>
            </a:r>
            <a:br/>
            <a:r>
              <a:t>(Skeleton-Based Action Recognition)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914400"/>
            <a:ext cx="26517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1">
                <a:solidFill>
                  <a:srgbClr val="2C3E50"/>
                </a:solidFill>
                <a:latin typeface="Arial"/>
              </a:defRPr>
            </a:pPr>
            <a:r>
              <a:t>Skeleton Sequence</a:t>
            </a:r>
            <a:br/>
            <a:r>
              <a:t>(N x C x T x V Input)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280160"/>
            <a:ext cx="2743200" cy="1463040"/>
          </a:xfrm>
          <a:prstGeom prst="rect">
            <a:avLst/>
          </a:prstGeom>
          <a:noFill/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40080" y="1261872"/>
            <a:ext cx="0" cy="192024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1453896"/>
            <a:ext cx="128016" cy="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512063" y="1453896"/>
            <a:ext cx="128017" cy="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68096" y="1453896"/>
            <a:ext cx="96012" cy="16002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64108" y="1613916"/>
            <a:ext cx="64007" cy="16002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16051" y="1453896"/>
            <a:ext cx="96012" cy="16002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52043" y="1613916"/>
            <a:ext cx="64008" cy="16002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0080" y="1453896"/>
            <a:ext cx="0" cy="288036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" y="1741932"/>
            <a:ext cx="96012" cy="16002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44068" y="1741932"/>
            <a:ext cx="96012" cy="16002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6092" y="1901952"/>
            <a:ext cx="0" cy="256032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6092" y="2157984"/>
            <a:ext cx="0" cy="256032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44068" y="1901952"/>
            <a:ext cx="0" cy="256032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44068" y="2157984"/>
            <a:ext cx="0" cy="256032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12647" y="1234440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2647" y="142646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0664" y="142646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4631" y="142646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6675" y="158648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88619" y="158648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00683" y="174650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24612" y="174650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12647" y="1714500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08659" y="1874520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6635" y="1874520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8659" y="2130552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6635" y="2130552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08659" y="238658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6635" y="238658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554480" y="1261872"/>
            <a:ext cx="0" cy="192024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554480" y="1453896"/>
            <a:ext cx="128015" cy="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426464" y="1453896"/>
            <a:ext cx="128016" cy="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682495" y="1453896"/>
            <a:ext cx="96012" cy="16002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778507" y="1613916"/>
            <a:ext cx="64009" cy="16002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1330452" y="1453896"/>
            <a:ext cx="96012" cy="16002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1266444" y="1613916"/>
            <a:ext cx="64008" cy="16002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554480" y="1453896"/>
            <a:ext cx="0" cy="288036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554480" y="1741932"/>
            <a:ext cx="96012" cy="16002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1458468" y="1741932"/>
            <a:ext cx="96012" cy="16002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650492" y="1901952"/>
            <a:ext cx="0" cy="256032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650492" y="2157984"/>
            <a:ext cx="0" cy="256032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458468" y="1901952"/>
            <a:ext cx="0" cy="256032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458468" y="2157984"/>
            <a:ext cx="0" cy="256032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1527048" y="1234440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527048" y="142646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655063" y="142646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399032" y="142646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751075" y="158648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03020" y="158648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815084" y="174650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239012" y="174650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527048" y="1714500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623060" y="1874520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431036" y="1874520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623060" y="2130552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431036" y="2130552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623060" y="238658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431036" y="238658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2468880" y="1261872"/>
            <a:ext cx="0" cy="192024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468880" y="1453896"/>
            <a:ext cx="128016" cy="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2340864" y="1453896"/>
            <a:ext cx="128016" cy="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596896" y="1453896"/>
            <a:ext cx="96012" cy="16002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692908" y="1613916"/>
            <a:ext cx="64008" cy="16002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2244852" y="1453896"/>
            <a:ext cx="96012" cy="16002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2180844" y="1613916"/>
            <a:ext cx="64008" cy="16002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468880" y="1453896"/>
            <a:ext cx="0" cy="288036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468880" y="1741932"/>
            <a:ext cx="96012" cy="16002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2372868" y="1741932"/>
            <a:ext cx="96012" cy="16002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564892" y="1901952"/>
            <a:ext cx="0" cy="256032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564892" y="2157984"/>
            <a:ext cx="0" cy="256032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372868" y="1901952"/>
            <a:ext cx="0" cy="256032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372868" y="2157984"/>
            <a:ext cx="0" cy="256032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2441448" y="1234440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441448" y="142646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569464" y="142646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313432" y="142646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665476" y="158648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217420" y="158648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729484" y="174650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153412" y="174650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441448" y="1714500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2537460" y="1874520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2345436" y="1874520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2537460" y="2130552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345436" y="2130552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2537460" y="238658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345436" y="238658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57200" y="2514600"/>
            <a:ext cx="4572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0">
                <a:solidFill>
                  <a:srgbClr val="2C3E50"/>
                </a:solidFill>
                <a:latin typeface="Arial"/>
              </a:defRPr>
            </a:pPr>
            <a:r>
              <a:t>t = 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371600" y="2514600"/>
            <a:ext cx="4572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0">
                <a:solidFill>
                  <a:srgbClr val="2C3E50"/>
                </a:solidFill>
                <a:latin typeface="Arial"/>
              </a:defRPr>
            </a:pPr>
            <a:r>
              <a:t>t = 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286000" y="2514600"/>
            <a:ext cx="4572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0">
                <a:solidFill>
                  <a:srgbClr val="2C3E50"/>
                </a:solidFill>
                <a:latin typeface="Arial"/>
              </a:defRPr>
            </a:pPr>
            <a:r>
              <a:t>t = 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920240" y="1645920"/>
            <a:ext cx="2743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400" b="1">
                <a:solidFill>
                  <a:srgbClr val="2C3E50"/>
                </a:solidFill>
                <a:latin typeface="Arial"/>
              </a:defRPr>
            </a:pPr>
            <a:r>
              <a:t>...</a:t>
            </a:r>
          </a:p>
        </p:txBody>
      </p:sp>
      <p:sp>
        <p:nvSpPr>
          <p:cNvPr id="96" name="Cube 95"/>
          <p:cNvSpPr/>
          <p:nvPr/>
        </p:nvSpPr>
        <p:spPr>
          <a:xfrm>
            <a:off x="457200" y="2926080"/>
            <a:ext cx="2194560" cy="1097280"/>
          </a:xfrm>
          <a:prstGeom prst="cube">
            <a:avLst/>
          </a:prstGeom>
          <a:solidFill>
            <a:srgbClr val="D6EAF8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82880" y="4023360"/>
            <a:ext cx="274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1">
                <a:solidFill>
                  <a:srgbClr val="2C3E50"/>
                </a:solidFill>
                <a:latin typeface="Arial"/>
              </a:defRPr>
            </a:pPr>
            <a:r>
              <a:t>Feature Tensor Map (C x T x V)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4389120"/>
            <a:ext cx="2743200" cy="1005840"/>
          </a:xfrm>
          <a:prstGeom prst="rect">
            <a:avLst/>
          </a:prstGeom>
          <a:noFill/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N : Batch Size</a:t>
            </a:r>
            <a:br/>
            <a:r>
              <a:t>C : Channel (Feature Dimension)</a:t>
            </a:r>
            <a:br/>
            <a:r>
              <a:t>T : Temporal Length (Frames)</a:t>
            </a:r>
            <a:br/>
            <a:r>
              <a:t>V : Number of Joints (Vertices)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82880" y="5486400"/>
            <a:ext cx="2743200" cy="1005840"/>
          </a:xfrm>
          <a:prstGeom prst="rect">
            <a:avLst/>
          </a:prstGeom>
          <a:noFill/>
          <a:ln w="19050">
            <a:solidFill>
              <a:srgbClr val="E67E2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Example (NTU RGB+D)</a:t>
            </a:r>
            <a:br/>
            <a:r>
              <a:t>N x 3 x 300 x 25</a:t>
            </a:r>
            <a:br/>
            <a:r>
              <a:t>(x, y, z coordinates)</a:t>
            </a:r>
            <a:br/>
            <a:r>
              <a:t>C = 3, T = 300, V = 25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200400" y="548640"/>
            <a:ext cx="2286000" cy="365760"/>
          </a:xfrm>
          <a:prstGeom prst="roundRect">
            <a:avLst/>
          </a:prstGeom>
          <a:noFill/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50" b="1">
                <a:solidFill>
                  <a:srgbClr val="2C3E50"/>
                </a:solidFill>
                <a:latin typeface="Arial"/>
              </a:defRPr>
            </a:pPr>
            <a:r>
              <a:t>Data Normalization</a:t>
            </a:r>
            <a:br/>
            <a:r>
              <a:t>(Batch Normalization)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4343400" y="914400"/>
            <a:ext cx="0" cy="18288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3108960" y="1005840"/>
            <a:ext cx="2468880" cy="4389120"/>
          </a:xfrm>
          <a:prstGeom prst="roundRect">
            <a:avLst/>
          </a:prstGeom>
          <a:noFill/>
          <a:ln w="19050">
            <a:solidFill>
              <a:srgbClr val="95A5A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3200400" y="1097280"/>
            <a:ext cx="2286000" cy="1097280"/>
          </a:xfrm>
          <a:prstGeom prst="roundRect">
            <a:avLst/>
          </a:prstGeom>
          <a:noFill/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291840" y="1143000"/>
            <a:ext cx="210312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2980B9"/>
                </a:solidFill>
                <a:latin typeface="Arial"/>
              </a:defRPr>
            </a:pPr>
            <a:r>
              <a:t>ST-GCN Block 1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3337560" y="1371600"/>
            <a:ext cx="2011680" cy="210312"/>
          </a:xfrm>
          <a:prstGeom prst="roundRect">
            <a:avLst/>
          </a:prstGeom>
          <a:solidFill>
            <a:srgbClr val="EAFAF1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Spatial GCN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337560" y="1627631"/>
            <a:ext cx="2011680" cy="210312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Temporal Conv (TCN)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3337560" y="1883664"/>
            <a:ext cx="2011680" cy="210312"/>
          </a:xfrm>
          <a:prstGeom prst="roundRect">
            <a:avLst/>
          </a:prstGeom>
          <a:solidFill>
            <a:srgbClr val="F2F4F4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Residual Connection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4343400" y="2194560"/>
            <a:ext cx="0" cy="18288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4251960" y="2377440"/>
            <a:ext cx="182880" cy="182880"/>
          </a:xfrm>
          <a:prstGeom prst="ellipse">
            <a:avLst/>
          </a:prstGeom>
          <a:noFill/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2C3E50"/>
                </a:solidFill>
                <a:latin typeface="Arial"/>
              </a:defRPr>
            </a:pPr>
            <a:r>
              <a:t>+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4343400" y="2560320"/>
            <a:ext cx="0" cy="18288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ounded Rectangle 110"/>
          <p:cNvSpPr/>
          <p:nvPr/>
        </p:nvSpPr>
        <p:spPr>
          <a:xfrm>
            <a:off x="3200400" y="2743200"/>
            <a:ext cx="2286000" cy="1097280"/>
          </a:xfrm>
          <a:prstGeom prst="roundRect">
            <a:avLst/>
          </a:prstGeom>
          <a:noFill/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3291840" y="2788920"/>
            <a:ext cx="210312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2980B9"/>
                </a:solidFill>
                <a:latin typeface="Arial"/>
              </a:defRPr>
            </a:pPr>
            <a:r>
              <a:t>ST-GCN Block 2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337560" y="3017520"/>
            <a:ext cx="2011680" cy="210312"/>
          </a:xfrm>
          <a:prstGeom prst="roundRect">
            <a:avLst/>
          </a:prstGeom>
          <a:solidFill>
            <a:srgbClr val="EAFAF1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Spatial GCN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3337560" y="3273552"/>
            <a:ext cx="2011680" cy="210312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Temporal Conv (TCN)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337560" y="3529584"/>
            <a:ext cx="2011680" cy="210312"/>
          </a:xfrm>
          <a:prstGeom prst="roundRect">
            <a:avLst/>
          </a:prstGeom>
          <a:solidFill>
            <a:srgbClr val="F2F4F4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Residual Connection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4343400" y="3840480"/>
            <a:ext cx="0" cy="137159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Oval 116"/>
          <p:cNvSpPr/>
          <p:nvPr/>
        </p:nvSpPr>
        <p:spPr>
          <a:xfrm>
            <a:off x="4251960" y="3977639"/>
            <a:ext cx="182880" cy="182880"/>
          </a:xfrm>
          <a:prstGeom prst="ellipse">
            <a:avLst/>
          </a:prstGeom>
          <a:noFill/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2C3E50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114800" y="4160520"/>
            <a:ext cx="4572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400" b="1">
                <a:solidFill>
                  <a:srgbClr val="2C3E50"/>
                </a:solidFill>
                <a:latin typeface="Arial"/>
              </a:defRPr>
            </a:pPr>
            <a:r>
              <a:t>...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4343400" y="4343400"/>
            <a:ext cx="0" cy="13716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ounded Rectangle 119"/>
          <p:cNvSpPr/>
          <p:nvPr/>
        </p:nvSpPr>
        <p:spPr>
          <a:xfrm>
            <a:off x="3200400" y="4480560"/>
            <a:ext cx="2286000" cy="1097280"/>
          </a:xfrm>
          <a:prstGeom prst="roundRect">
            <a:avLst/>
          </a:prstGeom>
          <a:noFill/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291840" y="4526280"/>
            <a:ext cx="210312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2980B9"/>
                </a:solidFill>
                <a:latin typeface="Arial"/>
              </a:defRPr>
            </a:pPr>
            <a:r>
              <a:t>ST-GCN Block L (e.g., Block 9)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337560" y="4754880"/>
            <a:ext cx="2011680" cy="210312"/>
          </a:xfrm>
          <a:prstGeom prst="roundRect">
            <a:avLst/>
          </a:prstGeom>
          <a:solidFill>
            <a:srgbClr val="EAFAF1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Spatial GCN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3337560" y="5010912"/>
            <a:ext cx="2011680" cy="210312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Temporal Conv (TCN)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337560" y="5266944"/>
            <a:ext cx="2011680" cy="210312"/>
          </a:xfrm>
          <a:prstGeom prst="roundRect">
            <a:avLst/>
          </a:prstGeom>
          <a:solidFill>
            <a:srgbClr val="F2F4F4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Residual Connection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4343400" y="5577840"/>
            <a:ext cx="0" cy="13716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ounded Rectangle 125"/>
          <p:cNvSpPr/>
          <p:nvPr/>
        </p:nvSpPr>
        <p:spPr>
          <a:xfrm>
            <a:off x="3200400" y="5715000"/>
            <a:ext cx="2286000" cy="274320"/>
          </a:xfrm>
          <a:prstGeom prst="roundRect">
            <a:avLst/>
          </a:prstGeom>
          <a:solidFill>
            <a:srgbClr val="EBDEF0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2C3E50"/>
                </a:solidFill>
                <a:latin typeface="Arial"/>
              </a:defRPr>
            </a:pPr>
            <a:r>
              <a:t>Global Average Pooling (GAP)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4343400" y="5989320"/>
            <a:ext cx="0" cy="9144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ounded Rectangle 127"/>
          <p:cNvSpPr/>
          <p:nvPr/>
        </p:nvSpPr>
        <p:spPr>
          <a:xfrm>
            <a:off x="3200400" y="6080760"/>
            <a:ext cx="2286000" cy="274320"/>
          </a:xfrm>
          <a:prstGeom prst="roundRect">
            <a:avLst/>
          </a:prstGeom>
          <a:solidFill>
            <a:srgbClr val="FDEBD0"/>
          </a:solidFill>
          <a:ln w="19050">
            <a:solidFill>
              <a:srgbClr val="DC7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2C3E50"/>
                </a:solidFill>
                <a:latin typeface="Arial"/>
              </a:defRPr>
            </a:pPr>
            <a:r>
              <a:t>Fully Connected Layer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4343400" y="6355080"/>
            <a:ext cx="0" cy="9144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/>
          <p:cNvSpPr/>
          <p:nvPr/>
        </p:nvSpPr>
        <p:spPr>
          <a:xfrm>
            <a:off x="3200400" y="6446520"/>
            <a:ext cx="2286000" cy="320040"/>
          </a:xfrm>
          <a:prstGeom prst="roundRect">
            <a:avLst/>
          </a:prstGeom>
          <a:solidFill>
            <a:srgbClr val="FADBD8"/>
          </a:solidFill>
          <a:ln w="19050">
            <a:solidFill>
              <a:srgbClr val="D98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2C3E50"/>
                </a:solidFill>
                <a:latin typeface="Arial"/>
              </a:defRPr>
            </a:pPr>
            <a:r>
              <a:t>Softmax Classifier (Action Classes)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760720" y="182880"/>
            <a:ext cx="6217920" cy="3108960"/>
          </a:xfrm>
          <a:prstGeom prst="roundRect">
            <a:avLst/>
          </a:prstGeom>
          <a:noFill/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852160" y="228600"/>
            <a:ext cx="3657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defRPr sz="1100" b="1">
                <a:solidFill>
                  <a:srgbClr val="27AE60"/>
                </a:solidFill>
                <a:latin typeface="Arial"/>
              </a:defRPr>
            </a:pPr>
            <a:r>
              <a:t>Spatial GCN (Spatial Graph Convolution)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852160" y="548640"/>
            <a:ext cx="128016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Input (One Frame)</a:t>
            </a:r>
            <a:br/>
            <a:r>
              <a:t>X ∈ R^(C_in × V)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6492240" y="1261872"/>
            <a:ext cx="0" cy="192024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6492240" y="1453896"/>
            <a:ext cx="128015" cy="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6364224" y="1453896"/>
            <a:ext cx="128016" cy="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6620255" y="1453896"/>
            <a:ext cx="96013" cy="16002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6716268" y="1613916"/>
            <a:ext cx="64008" cy="16002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>
            <a:off x="6268212" y="1453896"/>
            <a:ext cx="96012" cy="16002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>
            <a:off x="6204203" y="1613916"/>
            <a:ext cx="64009" cy="16002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6492240" y="1453896"/>
            <a:ext cx="0" cy="288036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6492240" y="1741932"/>
            <a:ext cx="96012" cy="16002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H="1">
            <a:off x="6396227" y="1741932"/>
            <a:ext cx="96013" cy="160020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6588252" y="1901952"/>
            <a:ext cx="0" cy="256032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6588252" y="2157984"/>
            <a:ext cx="0" cy="256032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6396227" y="1901952"/>
            <a:ext cx="0" cy="256032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6396227" y="2157984"/>
            <a:ext cx="0" cy="256032"/>
          </a:xfrm>
          <a:prstGeom prst="line">
            <a:avLst/>
          </a:prstGeom>
          <a:ln w="1905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Oval 147"/>
          <p:cNvSpPr/>
          <p:nvPr/>
        </p:nvSpPr>
        <p:spPr>
          <a:xfrm>
            <a:off x="6464807" y="1234440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464807" y="142646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592823" y="142646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336792" y="142646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688836" y="158648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240779" y="158648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752844" y="174650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176771" y="174650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464807" y="1714500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560820" y="1874520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6368795" y="1874520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6560820" y="2130552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6368795" y="2130552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6560820" y="238658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6368795" y="2386584"/>
            <a:ext cx="54864" cy="54864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3" name="Connector 162"/>
          <p:cNvCxnSpPr/>
          <p:nvPr/>
        </p:nvCxnSpPr>
        <p:spPr>
          <a:xfrm>
            <a:off x="7040880" y="1645920"/>
            <a:ext cx="365760" cy="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ctangle 163"/>
          <p:cNvSpPr/>
          <p:nvPr/>
        </p:nvSpPr>
        <p:spPr>
          <a:xfrm>
            <a:off x="7498079" y="548640"/>
            <a:ext cx="164592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Human Skeleton Graph</a:t>
            </a:r>
            <a:br/>
            <a:r>
              <a:t>Adjacency Matrix A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7680960" y="1188720"/>
            <a:ext cx="164592" cy="164592"/>
          </a:xfrm>
          <a:prstGeom prst="rect">
            <a:avLst/>
          </a:prstGeom>
          <a:solidFill>
            <a:srgbClr val="27AE60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845552" y="1188720"/>
            <a:ext cx="164592" cy="164592"/>
          </a:xfrm>
          <a:prstGeom prst="rect">
            <a:avLst/>
          </a:prstGeom>
          <a:solidFill>
            <a:srgbClr val="27AE60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8010144" y="1188720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8174736" y="1188720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8339328" y="1188720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8503920" y="1188720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8668512" y="1188720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8833104" y="1188720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80960" y="1353312"/>
            <a:ext cx="164592" cy="164592"/>
          </a:xfrm>
          <a:prstGeom prst="rect">
            <a:avLst/>
          </a:prstGeom>
          <a:solidFill>
            <a:srgbClr val="27AE60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45552" y="1353312"/>
            <a:ext cx="164592" cy="164592"/>
          </a:xfrm>
          <a:prstGeom prst="rect">
            <a:avLst/>
          </a:prstGeom>
          <a:solidFill>
            <a:srgbClr val="27AE60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8010144" y="1353312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8174736" y="1353312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339328" y="1353312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503920" y="1353312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668512" y="1353312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833104" y="1353312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680960" y="1517904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7845552" y="1517904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010144" y="1517904"/>
            <a:ext cx="164592" cy="164592"/>
          </a:xfrm>
          <a:prstGeom prst="rect">
            <a:avLst/>
          </a:prstGeom>
          <a:solidFill>
            <a:srgbClr val="27AE60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174736" y="1517904"/>
            <a:ext cx="164592" cy="164592"/>
          </a:xfrm>
          <a:prstGeom prst="rect">
            <a:avLst/>
          </a:prstGeom>
          <a:solidFill>
            <a:srgbClr val="27AE60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339328" y="1517904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3920" y="1517904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668512" y="1517904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833104" y="1517904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680960" y="1682496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845552" y="1682496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010144" y="1682496"/>
            <a:ext cx="164592" cy="164592"/>
          </a:xfrm>
          <a:prstGeom prst="rect">
            <a:avLst/>
          </a:prstGeom>
          <a:solidFill>
            <a:srgbClr val="27AE60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174736" y="1682496"/>
            <a:ext cx="164592" cy="164592"/>
          </a:xfrm>
          <a:prstGeom prst="rect">
            <a:avLst/>
          </a:prstGeom>
          <a:solidFill>
            <a:srgbClr val="27AE60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8339328" y="1682496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503920" y="1682496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8668512" y="1682496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8833104" y="1682496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7680960" y="1847088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7845552" y="1847088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8010144" y="1847088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8174736" y="1847088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8339328" y="1847088"/>
            <a:ext cx="164592" cy="164592"/>
          </a:xfrm>
          <a:prstGeom prst="rect">
            <a:avLst/>
          </a:prstGeom>
          <a:solidFill>
            <a:srgbClr val="27AE60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8503920" y="1847088"/>
            <a:ext cx="164592" cy="164592"/>
          </a:xfrm>
          <a:prstGeom prst="rect">
            <a:avLst/>
          </a:prstGeom>
          <a:solidFill>
            <a:srgbClr val="27AE60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8668512" y="1847088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8833104" y="1847088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7680960" y="2011680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7845552" y="2011680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8010144" y="2011680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8174736" y="2011680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8339328" y="2011680"/>
            <a:ext cx="164592" cy="164592"/>
          </a:xfrm>
          <a:prstGeom prst="rect">
            <a:avLst/>
          </a:prstGeom>
          <a:solidFill>
            <a:srgbClr val="27AE60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8503920" y="2011680"/>
            <a:ext cx="164592" cy="164592"/>
          </a:xfrm>
          <a:prstGeom prst="rect">
            <a:avLst/>
          </a:prstGeom>
          <a:solidFill>
            <a:srgbClr val="27AE60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8668512" y="2011680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8833104" y="2011680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7680960" y="2176272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7845552" y="2176272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8010144" y="2176272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8174736" y="2176272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8339328" y="2176272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8503920" y="2176272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8668512" y="2176272"/>
            <a:ext cx="164592" cy="164592"/>
          </a:xfrm>
          <a:prstGeom prst="rect">
            <a:avLst/>
          </a:prstGeom>
          <a:solidFill>
            <a:srgbClr val="27AE60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8833104" y="2176272"/>
            <a:ext cx="164592" cy="164592"/>
          </a:xfrm>
          <a:prstGeom prst="rect">
            <a:avLst/>
          </a:prstGeom>
          <a:solidFill>
            <a:srgbClr val="27AE60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680960" y="2340864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845552" y="2340864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8010144" y="2340864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8174736" y="2340864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8339328" y="2340864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8503920" y="2340864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8668512" y="2340864"/>
            <a:ext cx="164592" cy="164592"/>
          </a:xfrm>
          <a:prstGeom prst="rect">
            <a:avLst/>
          </a:prstGeom>
          <a:solidFill>
            <a:srgbClr val="27AE60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8833104" y="2340864"/>
            <a:ext cx="164592" cy="164592"/>
          </a:xfrm>
          <a:prstGeom prst="rect">
            <a:avLst/>
          </a:prstGeom>
          <a:solidFill>
            <a:srgbClr val="27AE60"/>
          </a:solidFill>
          <a:ln w="190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498079" y="2560320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0">
                <a:solidFill>
                  <a:srgbClr val="2C3E50"/>
                </a:solidFill>
                <a:latin typeface="Arial"/>
              </a:defRPr>
            </a:pPr>
            <a:r>
              <a:t>A_ij = 1 if neighbor or self</a:t>
            </a:r>
          </a:p>
        </p:txBody>
      </p:sp>
      <p:cxnSp>
        <p:nvCxnSpPr>
          <p:cNvPr id="230" name="Connector 229"/>
          <p:cNvCxnSpPr/>
          <p:nvPr/>
        </p:nvCxnSpPr>
        <p:spPr>
          <a:xfrm>
            <a:off x="9144000" y="1645920"/>
            <a:ext cx="365760" cy="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Rectangle 230"/>
          <p:cNvSpPr/>
          <p:nvPr/>
        </p:nvSpPr>
        <p:spPr>
          <a:xfrm>
            <a:off x="9509760" y="548640"/>
            <a:ext cx="11887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Graph Convolution</a:t>
            </a:r>
          </a:p>
        </p:txBody>
      </p:sp>
      <p:sp>
        <p:nvSpPr>
          <p:cNvPr id="232" name="Oval 231"/>
          <p:cNvSpPr/>
          <p:nvPr/>
        </p:nvSpPr>
        <p:spPr>
          <a:xfrm>
            <a:off x="10104119" y="1508760"/>
            <a:ext cx="274320" cy="274320"/>
          </a:xfrm>
          <a:prstGeom prst="ellipse">
            <a:avLst/>
          </a:prstGeom>
          <a:solidFill>
            <a:srgbClr val="E74C3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i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9966960" y="1188720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E74C3C"/>
                </a:solidFill>
                <a:latin typeface="Arial"/>
              </a:defRPr>
            </a:pPr>
            <a:r>
              <a:t>Center Joint i</a:t>
            </a:r>
          </a:p>
        </p:txBody>
      </p:sp>
      <p:sp>
        <p:nvSpPr>
          <p:cNvPr id="234" name="Oval 233"/>
          <p:cNvSpPr/>
          <p:nvPr/>
        </p:nvSpPr>
        <p:spPr>
          <a:xfrm>
            <a:off x="10607040" y="1554480"/>
            <a:ext cx="182880" cy="182880"/>
          </a:xfrm>
          <a:prstGeom prst="ellipse">
            <a:avLst/>
          </a:prstGeom>
          <a:solidFill>
            <a:srgbClr val="2ECC7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700" b="0">
                <a:solidFill>
                  <a:srgbClr val="2C3E50"/>
                </a:solidFill>
                <a:latin typeface="Arial"/>
              </a:defRPr>
            </a:pPr>
            <a:r>
              <a:t>j1</a:t>
            </a:r>
          </a:p>
        </p:txBody>
      </p:sp>
      <p:cxnSp>
        <p:nvCxnSpPr>
          <p:cNvPr id="235" name="Connector 234"/>
          <p:cNvCxnSpPr/>
          <p:nvPr/>
        </p:nvCxnSpPr>
        <p:spPr>
          <a:xfrm flipH="1">
            <a:off x="10378440" y="1645920"/>
            <a:ext cx="228600" cy="0"/>
          </a:xfrm>
          <a:prstGeom prst="line">
            <a:avLst/>
          </a:prstGeom>
          <a:ln w="127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Oval 235"/>
          <p:cNvSpPr/>
          <p:nvPr/>
        </p:nvSpPr>
        <p:spPr>
          <a:xfrm>
            <a:off x="9784080" y="1920240"/>
            <a:ext cx="182880" cy="182880"/>
          </a:xfrm>
          <a:prstGeom prst="ellipse">
            <a:avLst/>
          </a:prstGeom>
          <a:solidFill>
            <a:srgbClr val="2ECC7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700" b="0">
                <a:solidFill>
                  <a:srgbClr val="2C3E50"/>
                </a:solidFill>
                <a:latin typeface="Arial"/>
              </a:defRPr>
            </a:pPr>
            <a:r>
              <a:t>j2</a:t>
            </a:r>
          </a:p>
        </p:txBody>
      </p:sp>
      <p:cxnSp>
        <p:nvCxnSpPr>
          <p:cNvPr id="237" name="Connector 236"/>
          <p:cNvCxnSpPr/>
          <p:nvPr/>
        </p:nvCxnSpPr>
        <p:spPr>
          <a:xfrm flipV="1">
            <a:off x="9948672" y="1755648"/>
            <a:ext cx="182880" cy="182880"/>
          </a:xfrm>
          <a:prstGeom prst="line">
            <a:avLst/>
          </a:prstGeom>
          <a:ln w="127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Oval 237"/>
          <p:cNvSpPr/>
          <p:nvPr/>
        </p:nvSpPr>
        <p:spPr>
          <a:xfrm>
            <a:off x="9875519" y="1188719"/>
            <a:ext cx="182880" cy="182880"/>
          </a:xfrm>
          <a:prstGeom prst="ellipse">
            <a:avLst/>
          </a:prstGeom>
          <a:solidFill>
            <a:srgbClr val="2ECC7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700" b="0">
                <a:solidFill>
                  <a:srgbClr val="2C3E50"/>
                </a:solidFill>
                <a:latin typeface="Arial"/>
              </a:defRPr>
            </a:pPr>
            <a:r>
              <a:t>j3</a:t>
            </a:r>
          </a:p>
        </p:txBody>
      </p:sp>
      <p:cxnSp>
        <p:nvCxnSpPr>
          <p:cNvPr id="239" name="Connector 238"/>
          <p:cNvCxnSpPr/>
          <p:nvPr/>
        </p:nvCxnSpPr>
        <p:spPr>
          <a:xfrm>
            <a:off x="10021824" y="1353312"/>
            <a:ext cx="137160" cy="182880"/>
          </a:xfrm>
          <a:prstGeom prst="line">
            <a:avLst/>
          </a:prstGeom>
          <a:ln w="127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Oval 239"/>
          <p:cNvSpPr/>
          <p:nvPr/>
        </p:nvSpPr>
        <p:spPr>
          <a:xfrm>
            <a:off x="10424160" y="1097280"/>
            <a:ext cx="182880" cy="182880"/>
          </a:xfrm>
          <a:prstGeom prst="ellipse">
            <a:avLst/>
          </a:prstGeom>
          <a:solidFill>
            <a:srgbClr val="2ECC7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700" b="0">
                <a:solidFill>
                  <a:srgbClr val="2C3E50"/>
                </a:solidFill>
                <a:latin typeface="Arial"/>
              </a:defRPr>
            </a:pPr>
            <a:r>
              <a:t>j4</a:t>
            </a:r>
          </a:p>
        </p:txBody>
      </p:sp>
      <p:cxnSp>
        <p:nvCxnSpPr>
          <p:cNvPr id="241" name="Connector 240"/>
          <p:cNvCxnSpPr/>
          <p:nvPr/>
        </p:nvCxnSpPr>
        <p:spPr>
          <a:xfrm flipH="1">
            <a:off x="10323576" y="1280160"/>
            <a:ext cx="137160" cy="228600"/>
          </a:xfrm>
          <a:prstGeom prst="line">
            <a:avLst/>
          </a:prstGeom>
          <a:ln w="127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10789920" y="1645920"/>
            <a:ext cx="365760" cy="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Rectangle 242"/>
          <p:cNvSpPr/>
          <p:nvPr/>
        </p:nvSpPr>
        <p:spPr>
          <a:xfrm>
            <a:off x="11155680" y="548640"/>
            <a:ext cx="8229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Output</a:t>
            </a:r>
            <a:br/>
            <a:r>
              <a:t>X' ∈ R^(C_out × V)</a:t>
            </a:r>
          </a:p>
        </p:txBody>
      </p:sp>
      <p:sp>
        <p:nvSpPr>
          <p:cNvPr id="244" name="Oval 243"/>
          <p:cNvSpPr/>
          <p:nvPr/>
        </p:nvSpPr>
        <p:spPr>
          <a:xfrm>
            <a:off x="11430000" y="1188720"/>
            <a:ext cx="182880" cy="182880"/>
          </a:xfrm>
          <a:prstGeom prst="ellipse">
            <a:avLst/>
          </a:prstGeom>
          <a:solidFill>
            <a:srgbClr val="3498DB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430000" y="1463040"/>
            <a:ext cx="182880" cy="182880"/>
          </a:xfrm>
          <a:prstGeom prst="ellipse">
            <a:avLst/>
          </a:prstGeom>
          <a:solidFill>
            <a:srgbClr val="3498DB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430000" y="1737360"/>
            <a:ext cx="182880" cy="182880"/>
          </a:xfrm>
          <a:prstGeom prst="ellipse">
            <a:avLst/>
          </a:prstGeom>
          <a:solidFill>
            <a:srgbClr val="3498DB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430000" y="2011680"/>
            <a:ext cx="182880" cy="182880"/>
          </a:xfrm>
          <a:prstGeom prst="ellipse">
            <a:avLst/>
          </a:prstGeom>
          <a:solidFill>
            <a:srgbClr val="3498DB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ounded Rectangle 247"/>
          <p:cNvSpPr/>
          <p:nvPr/>
        </p:nvSpPr>
        <p:spPr>
          <a:xfrm>
            <a:off x="6858000" y="2834640"/>
            <a:ext cx="4937760" cy="365760"/>
          </a:xfrm>
          <a:prstGeom prst="roundRect">
            <a:avLst/>
          </a:prstGeom>
          <a:noFill/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0">
                <a:solidFill>
                  <a:srgbClr val="27AE60"/>
                </a:solidFill>
                <a:latin typeface="Arial"/>
              </a:defRPr>
            </a:pPr>
            <a:r>
              <a:t>在同一帧内，根据骨架拓扑结构(邻接矩阵A)聚合每个关节的邻居信息，学习空间依赖关系。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5760720" y="3474720"/>
            <a:ext cx="6217920" cy="2743200"/>
          </a:xfrm>
          <a:prstGeom prst="roundRect">
            <a:avLst/>
          </a:prstGeom>
          <a:noFill/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5852160" y="3520440"/>
            <a:ext cx="3657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defRPr sz="1100" b="1">
                <a:solidFill>
                  <a:srgbClr val="E67E22"/>
                </a:solidFill>
                <a:latin typeface="Arial"/>
              </a:defRPr>
            </a:pPr>
            <a:r>
              <a:t>Temporal Conv (Temporal Convolution)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5852160" y="3931920"/>
            <a:ext cx="13716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Input (One Joint)</a:t>
            </a:r>
            <a:br/>
            <a:r>
              <a:t>X ∈ R^(C_in × T)</a:t>
            </a:r>
          </a:p>
        </p:txBody>
      </p:sp>
      <p:sp>
        <p:nvSpPr>
          <p:cNvPr id="252" name="Oval 251"/>
          <p:cNvSpPr/>
          <p:nvPr/>
        </p:nvSpPr>
        <p:spPr>
          <a:xfrm>
            <a:off x="5943600" y="4480560"/>
            <a:ext cx="137160" cy="137160"/>
          </a:xfrm>
          <a:prstGeom prst="ellipse">
            <a:avLst/>
          </a:prstGeom>
          <a:solidFill>
            <a:srgbClr val="2ECC7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6172200" y="4480560"/>
            <a:ext cx="137160" cy="137160"/>
          </a:xfrm>
          <a:prstGeom prst="ellipse">
            <a:avLst/>
          </a:prstGeom>
          <a:solidFill>
            <a:srgbClr val="2ECC7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6400800" y="4480560"/>
            <a:ext cx="137160" cy="137160"/>
          </a:xfrm>
          <a:prstGeom prst="ellipse">
            <a:avLst/>
          </a:prstGeom>
          <a:solidFill>
            <a:srgbClr val="2ECC7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6629400" y="4480560"/>
            <a:ext cx="137160" cy="137160"/>
          </a:xfrm>
          <a:prstGeom prst="ellipse">
            <a:avLst/>
          </a:prstGeom>
          <a:solidFill>
            <a:srgbClr val="2ECC7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6858000" y="4480560"/>
            <a:ext cx="137160" cy="137160"/>
          </a:xfrm>
          <a:prstGeom prst="ellipse">
            <a:avLst/>
          </a:prstGeom>
          <a:solidFill>
            <a:srgbClr val="2ECC7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7086600" y="4434840"/>
            <a:ext cx="27432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1">
                <a:solidFill>
                  <a:srgbClr val="2C3E50"/>
                </a:solidFill>
                <a:latin typeface="Arial"/>
              </a:defRPr>
            </a:pPr>
            <a:r>
              <a:t>...</a:t>
            </a:r>
          </a:p>
        </p:txBody>
      </p:sp>
      <p:sp>
        <p:nvSpPr>
          <p:cNvPr id="258" name="Oval 257"/>
          <p:cNvSpPr/>
          <p:nvPr/>
        </p:nvSpPr>
        <p:spPr>
          <a:xfrm>
            <a:off x="5943600" y="4754880"/>
            <a:ext cx="137160" cy="137160"/>
          </a:xfrm>
          <a:prstGeom prst="ellipse">
            <a:avLst/>
          </a:prstGeom>
          <a:solidFill>
            <a:srgbClr val="3498DB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6172200" y="4754880"/>
            <a:ext cx="137160" cy="137160"/>
          </a:xfrm>
          <a:prstGeom prst="ellipse">
            <a:avLst/>
          </a:prstGeom>
          <a:solidFill>
            <a:srgbClr val="3498DB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6400800" y="4754880"/>
            <a:ext cx="137160" cy="137160"/>
          </a:xfrm>
          <a:prstGeom prst="ellipse">
            <a:avLst/>
          </a:prstGeom>
          <a:solidFill>
            <a:srgbClr val="3498DB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6629400" y="4754880"/>
            <a:ext cx="137160" cy="137160"/>
          </a:xfrm>
          <a:prstGeom prst="ellipse">
            <a:avLst/>
          </a:prstGeom>
          <a:solidFill>
            <a:srgbClr val="3498DB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6858000" y="4754880"/>
            <a:ext cx="137160" cy="137160"/>
          </a:xfrm>
          <a:prstGeom prst="ellipse">
            <a:avLst/>
          </a:prstGeom>
          <a:solidFill>
            <a:srgbClr val="3498DB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7086600" y="4709159"/>
            <a:ext cx="27432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1">
                <a:solidFill>
                  <a:srgbClr val="2C3E50"/>
                </a:solidFill>
                <a:latin typeface="Arial"/>
              </a:defRPr>
            </a:pPr>
            <a:r>
              <a:t>...</a:t>
            </a:r>
          </a:p>
        </p:txBody>
      </p:sp>
      <p:sp>
        <p:nvSpPr>
          <p:cNvPr id="264" name="Oval 263"/>
          <p:cNvSpPr/>
          <p:nvPr/>
        </p:nvSpPr>
        <p:spPr>
          <a:xfrm>
            <a:off x="5943600" y="5029200"/>
            <a:ext cx="137160" cy="137160"/>
          </a:xfrm>
          <a:prstGeom prst="ellipse">
            <a:avLst/>
          </a:prstGeom>
          <a:solidFill>
            <a:srgbClr val="9B59B6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6172200" y="5029200"/>
            <a:ext cx="137160" cy="137160"/>
          </a:xfrm>
          <a:prstGeom prst="ellipse">
            <a:avLst/>
          </a:prstGeom>
          <a:solidFill>
            <a:srgbClr val="9B59B6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6400800" y="5029200"/>
            <a:ext cx="137160" cy="137160"/>
          </a:xfrm>
          <a:prstGeom prst="ellipse">
            <a:avLst/>
          </a:prstGeom>
          <a:solidFill>
            <a:srgbClr val="9B59B6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6629400" y="5029200"/>
            <a:ext cx="137160" cy="137160"/>
          </a:xfrm>
          <a:prstGeom prst="ellipse">
            <a:avLst/>
          </a:prstGeom>
          <a:solidFill>
            <a:srgbClr val="9B59B6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6858000" y="5029200"/>
            <a:ext cx="137160" cy="137160"/>
          </a:xfrm>
          <a:prstGeom prst="ellipse">
            <a:avLst/>
          </a:prstGeom>
          <a:solidFill>
            <a:srgbClr val="9B59B6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7086600" y="4983479"/>
            <a:ext cx="27432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1">
                <a:solidFill>
                  <a:srgbClr val="2C3E50"/>
                </a:solidFill>
                <a:latin typeface="Arial"/>
              </a:defRPr>
            </a:pPr>
            <a:r>
              <a:t>...</a:t>
            </a:r>
          </a:p>
        </p:txBody>
      </p:sp>
      <p:cxnSp>
        <p:nvCxnSpPr>
          <p:cNvPr id="270" name="Connector 269"/>
          <p:cNvCxnSpPr/>
          <p:nvPr/>
        </p:nvCxnSpPr>
        <p:spPr>
          <a:xfrm>
            <a:off x="7315200" y="4709160"/>
            <a:ext cx="365760" cy="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1" name="Rectangle 270"/>
          <p:cNvSpPr/>
          <p:nvPr/>
        </p:nvSpPr>
        <p:spPr>
          <a:xfrm>
            <a:off x="7589520" y="3931920"/>
            <a:ext cx="18288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1D Convolution</a:t>
            </a:r>
            <a:br/>
            <a:r>
              <a:t>(On Time Dimension)</a:t>
            </a:r>
          </a:p>
        </p:txBody>
      </p:sp>
      <p:sp>
        <p:nvSpPr>
          <p:cNvPr id="272" name="Oval 271"/>
          <p:cNvSpPr/>
          <p:nvPr/>
        </p:nvSpPr>
        <p:spPr>
          <a:xfrm>
            <a:off x="7772400" y="4480560"/>
            <a:ext cx="137160" cy="137160"/>
          </a:xfrm>
          <a:prstGeom prst="ellipse">
            <a:avLst/>
          </a:prstGeom>
          <a:solidFill>
            <a:srgbClr val="2ECC7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8001000" y="4480560"/>
            <a:ext cx="137160" cy="137160"/>
          </a:xfrm>
          <a:prstGeom prst="ellipse">
            <a:avLst/>
          </a:prstGeom>
          <a:solidFill>
            <a:srgbClr val="2ECC7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229600" y="4480560"/>
            <a:ext cx="137160" cy="137160"/>
          </a:xfrm>
          <a:prstGeom prst="ellipse">
            <a:avLst/>
          </a:prstGeom>
          <a:solidFill>
            <a:srgbClr val="2ECC7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8458200" y="4480560"/>
            <a:ext cx="137160" cy="137160"/>
          </a:xfrm>
          <a:prstGeom prst="ellipse">
            <a:avLst/>
          </a:prstGeom>
          <a:solidFill>
            <a:srgbClr val="2ECC7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8686800" y="4480560"/>
            <a:ext cx="137160" cy="137160"/>
          </a:xfrm>
          <a:prstGeom prst="ellipse">
            <a:avLst/>
          </a:prstGeom>
          <a:solidFill>
            <a:srgbClr val="2ECC7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7772400" y="4754880"/>
            <a:ext cx="137160" cy="137160"/>
          </a:xfrm>
          <a:prstGeom prst="ellipse">
            <a:avLst/>
          </a:prstGeom>
          <a:solidFill>
            <a:srgbClr val="3498DB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8001000" y="4754880"/>
            <a:ext cx="137160" cy="137160"/>
          </a:xfrm>
          <a:prstGeom prst="ellipse">
            <a:avLst/>
          </a:prstGeom>
          <a:solidFill>
            <a:srgbClr val="3498DB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8229600" y="4754880"/>
            <a:ext cx="137160" cy="137160"/>
          </a:xfrm>
          <a:prstGeom prst="ellipse">
            <a:avLst/>
          </a:prstGeom>
          <a:solidFill>
            <a:srgbClr val="3498DB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8458200" y="4754880"/>
            <a:ext cx="137160" cy="137160"/>
          </a:xfrm>
          <a:prstGeom prst="ellipse">
            <a:avLst/>
          </a:prstGeom>
          <a:solidFill>
            <a:srgbClr val="3498DB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8686800" y="4754880"/>
            <a:ext cx="137160" cy="137160"/>
          </a:xfrm>
          <a:prstGeom prst="ellipse">
            <a:avLst/>
          </a:prstGeom>
          <a:solidFill>
            <a:srgbClr val="3498DB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7772400" y="5029200"/>
            <a:ext cx="137160" cy="137160"/>
          </a:xfrm>
          <a:prstGeom prst="ellipse">
            <a:avLst/>
          </a:prstGeom>
          <a:solidFill>
            <a:srgbClr val="9B59B6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8001000" y="5029200"/>
            <a:ext cx="137160" cy="137160"/>
          </a:xfrm>
          <a:prstGeom prst="ellipse">
            <a:avLst/>
          </a:prstGeom>
          <a:solidFill>
            <a:srgbClr val="9B59B6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8229600" y="5029200"/>
            <a:ext cx="137160" cy="137160"/>
          </a:xfrm>
          <a:prstGeom prst="ellipse">
            <a:avLst/>
          </a:prstGeom>
          <a:solidFill>
            <a:srgbClr val="9B59B6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8458200" y="5029200"/>
            <a:ext cx="137160" cy="137160"/>
          </a:xfrm>
          <a:prstGeom prst="ellipse">
            <a:avLst/>
          </a:prstGeom>
          <a:solidFill>
            <a:srgbClr val="9B59B6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8686800" y="5029200"/>
            <a:ext cx="137160" cy="137160"/>
          </a:xfrm>
          <a:prstGeom prst="ellipse">
            <a:avLst/>
          </a:prstGeom>
          <a:solidFill>
            <a:srgbClr val="9B59B6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ounded Rectangle 286"/>
          <p:cNvSpPr/>
          <p:nvPr/>
        </p:nvSpPr>
        <p:spPr>
          <a:xfrm>
            <a:off x="7955279" y="4389120"/>
            <a:ext cx="731520" cy="822960"/>
          </a:xfrm>
          <a:prstGeom prst="roundRect">
            <a:avLst/>
          </a:prstGeom>
          <a:noFill/>
          <a:ln w="19050">
            <a:solidFill>
              <a:srgbClr val="E67E2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8046720" y="5303520"/>
            <a:ext cx="914400" cy="274320"/>
          </a:xfrm>
          <a:prstGeom prst="rect">
            <a:avLst/>
          </a:prstGeom>
          <a:solidFill>
            <a:srgbClr val="FEF9E7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0">
                <a:solidFill>
                  <a:srgbClr val="2C3E50"/>
                </a:solidFill>
                <a:latin typeface="Arial"/>
              </a:defRPr>
            </a:pPr>
            <a:r>
              <a:t>Kernel Size = K_t</a:t>
            </a:r>
          </a:p>
        </p:txBody>
      </p:sp>
      <p:cxnSp>
        <p:nvCxnSpPr>
          <p:cNvPr id="289" name="Connector 288"/>
          <p:cNvCxnSpPr/>
          <p:nvPr/>
        </p:nvCxnSpPr>
        <p:spPr>
          <a:xfrm>
            <a:off x="9144000" y="4709160"/>
            <a:ext cx="365760" cy="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0" name="Rectangle 289"/>
          <p:cNvSpPr/>
          <p:nvPr/>
        </p:nvSpPr>
        <p:spPr>
          <a:xfrm>
            <a:off x="9601200" y="3931920"/>
            <a:ext cx="13716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Output</a:t>
            </a:r>
            <a:br/>
            <a:r>
              <a:t>X' ∈ R^(C_out × T)</a:t>
            </a:r>
          </a:p>
        </p:txBody>
      </p:sp>
      <p:sp>
        <p:nvSpPr>
          <p:cNvPr id="291" name="Oval 290"/>
          <p:cNvSpPr/>
          <p:nvPr/>
        </p:nvSpPr>
        <p:spPr>
          <a:xfrm>
            <a:off x="9692640" y="4480560"/>
            <a:ext cx="137160" cy="137160"/>
          </a:xfrm>
          <a:prstGeom prst="ellipse">
            <a:avLst/>
          </a:prstGeom>
          <a:solidFill>
            <a:srgbClr val="E67E22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9921240" y="4480560"/>
            <a:ext cx="137160" cy="137160"/>
          </a:xfrm>
          <a:prstGeom prst="ellipse">
            <a:avLst/>
          </a:prstGeom>
          <a:solidFill>
            <a:srgbClr val="E67E22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0149840" y="4480560"/>
            <a:ext cx="137160" cy="137160"/>
          </a:xfrm>
          <a:prstGeom prst="ellipse">
            <a:avLst/>
          </a:prstGeom>
          <a:solidFill>
            <a:srgbClr val="E67E22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0378440" y="4480560"/>
            <a:ext cx="137160" cy="137160"/>
          </a:xfrm>
          <a:prstGeom prst="ellipse">
            <a:avLst/>
          </a:prstGeom>
          <a:solidFill>
            <a:srgbClr val="E67E22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9692640" y="4754880"/>
            <a:ext cx="137160" cy="137160"/>
          </a:xfrm>
          <a:prstGeom prst="ellipse">
            <a:avLst/>
          </a:prstGeom>
          <a:solidFill>
            <a:srgbClr val="E67E22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9921240" y="4754880"/>
            <a:ext cx="137160" cy="137160"/>
          </a:xfrm>
          <a:prstGeom prst="ellipse">
            <a:avLst/>
          </a:prstGeom>
          <a:solidFill>
            <a:srgbClr val="E67E22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10149840" y="4754880"/>
            <a:ext cx="137160" cy="137160"/>
          </a:xfrm>
          <a:prstGeom prst="ellipse">
            <a:avLst/>
          </a:prstGeom>
          <a:solidFill>
            <a:srgbClr val="E67E22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10378440" y="4754880"/>
            <a:ext cx="137160" cy="137160"/>
          </a:xfrm>
          <a:prstGeom prst="ellipse">
            <a:avLst/>
          </a:prstGeom>
          <a:solidFill>
            <a:srgbClr val="E67E22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9692640" y="5029200"/>
            <a:ext cx="137160" cy="137160"/>
          </a:xfrm>
          <a:prstGeom prst="ellipse">
            <a:avLst/>
          </a:prstGeom>
          <a:solidFill>
            <a:srgbClr val="E67E22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9921240" y="5029200"/>
            <a:ext cx="137160" cy="137160"/>
          </a:xfrm>
          <a:prstGeom prst="ellipse">
            <a:avLst/>
          </a:prstGeom>
          <a:solidFill>
            <a:srgbClr val="E67E22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10149840" y="5029200"/>
            <a:ext cx="137160" cy="137160"/>
          </a:xfrm>
          <a:prstGeom prst="ellipse">
            <a:avLst/>
          </a:prstGeom>
          <a:solidFill>
            <a:srgbClr val="E67E22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10378440" y="5029200"/>
            <a:ext cx="137160" cy="137160"/>
          </a:xfrm>
          <a:prstGeom prst="ellipse">
            <a:avLst/>
          </a:prstGeom>
          <a:solidFill>
            <a:srgbClr val="E67E22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6858000" y="5669280"/>
            <a:ext cx="4937760" cy="365760"/>
          </a:xfrm>
          <a:prstGeom prst="roundRect">
            <a:avLst/>
          </a:prstGeom>
          <a:noFill/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0">
                <a:solidFill>
                  <a:srgbClr val="E67E22"/>
                </a:solidFill>
                <a:latin typeface="Arial"/>
              </a:defRPr>
            </a:pPr>
            <a:r>
              <a:t>在同一关节上，沿时间维度进行 1D 卷积，学习动作时间变化的动态信息。</a:t>
            </a:r>
          </a:p>
        </p:txBody>
      </p:sp>
      <p:cxnSp>
        <p:nvCxnSpPr>
          <p:cNvPr id="304" name="Connector 303"/>
          <p:cNvCxnSpPr/>
          <p:nvPr/>
        </p:nvCxnSpPr>
        <p:spPr>
          <a:xfrm flipV="1">
            <a:off x="5349240" y="914400"/>
            <a:ext cx="411480" cy="548640"/>
          </a:xfrm>
          <a:prstGeom prst="line">
            <a:avLst/>
          </a:prstGeom>
          <a:ln w="19050">
            <a:solidFill>
              <a:srgbClr val="27AE6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5349240" y="1737360"/>
            <a:ext cx="411480" cy="2377440"/>
          </a:xfrm>
          <a:prstGeom prst="line">
            <a:avLst/>
          </a:prstGeom>
          <a:ln w="19050">
            <a:solidFill>
              <a:srgbClr val="E67E2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