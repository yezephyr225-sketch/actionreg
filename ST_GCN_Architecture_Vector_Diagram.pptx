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9260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300" b="1">
                <a:solidFill>
                  <a:srgbClr val="1B4F72"/>
                </a:solidFill>
                <a:latin typeface="Arial"/>
              </a:defRPr>
            </a:pPr>
            <a:r>
              <a:t>Overall ST-GCN Architecture</a:t>
            </a:r>
            <a:br/>
            <a:r>
              <a:t>(Skeleton-Based Action Recognition)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2651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2C3E50"/>
                </a:solidFill>
                <a:latin typeface="Arial"/>
              </a:defRPr>
            </a:pPr>
            <a:r>
              <a:t>Skeleton Sequence</a:t>
            </a:r>
            <a:br/>
            <a:r>
              <a:t>(N x C x T x V Input)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40080" y="2011679.56"/>
            <a:ext cx="0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40079.835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.165" y="2011679.78"/>
            <a:ext cx="0.1099999999860301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.275" y="2011679.945"/>
            <a:ext cx="0.05499999993480742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40079.725" y="2011679.78"/>
            <a:ext cx="0.1099999999860301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0079.67" y="2011679.945"/>
            <a:ext cx="0.05499999993480742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2011679.78"/>
            <a:ext cx="0" cy="0.3300000000745058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2011680.11"/>
            <a:ext cx="0.10999999998603016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40079.89" y="2011680.11"/>
            <a:ext cx="0.10999999998603016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.11" y="2011680.11"/>
            <a:ext cx="0.021999999997206032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.132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40079.868" y="2011680.11"/>
            <a:ext cx="0.021999999997206032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40079.835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12648" y="1984247"/>
            <a:ext cx="54864" cy="548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264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264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264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280160" y="2011679.56"/>
            <a:ext cx="0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80160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280159.835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80160.165" y="2011679.78"/>
            <a:ext cx="0.10999999986961484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80160.275" y="2011679.945"/>
            <a:ext cx="0.0550000001676380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280159.725" y="2011679.78"/>
            <a:ext cx="0.10999999986961484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80159.67" y="2011679.945"/>
            <a:ext cx="0.0550000001676380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80160" y="2011679.78"/>
            <a:ext cx="0" cy="0.3300000000745058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80160" y="2011680.11"/>
            <a:ext cx="0.11000000010244548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280159.89" y="2011680.11"/>
            <a:ext cx="0.11000000010244548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80160.11" y="2011680.11"/>
            <a:ext cx="0.021999999880790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80160.132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280159.868" y="2011680.11"/>
            <a:ext cx="0.021999999880790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280159.835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252728" y="1984247"/>
            <a:ext cx="54864" cy="548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5272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5272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5272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5272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5272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5272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5272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5272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5272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5272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5272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5272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25272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5272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920240" y="2011679.56"/>
            <a:ext cx="0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920240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920239.835" y="2011679.78"/>
            <a:ext cx="0.1650000000372529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920240.165" y="2011679.78"/>
            <a:ext cx="0.10999999986961484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20240.275" y="2011679.945"/>
            <a:ext cx="0.0550000001676380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920239.725" y="2011679.78"/>
            <a:ext cx="0.10999999986961484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920239.67" y="2011679.945"/>
            <a:ext cx="0.05500000016763806" cy="0.1650000000372529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920240" y="2011679.78"/>
            <a:ext cx="0" cy="0.3300000000745058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920240" y="2011680.11"/>
            <a:ext cx="0.11000000010244548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920239.89" y="2011680.11"/>
            <a:ext cx="0.11000000010244548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0240.11" y="2011680.11"/>
            <a:ext cx="0.021999999880790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20240.132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920239.868" y="2011680.11"/>
            <a:ext cx="0.021999999880790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920239.835" y="2011680.33"/>
            <a:ext cx="0.03300000005401671" cy="0.2199999999720603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1892808" y="1984247"/>
            <a:ext cx="54864" cy="548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89280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89280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89280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892808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892807" y="19842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89280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89280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89280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9280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89280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89280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89280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2808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92807" y="19842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" y="2560320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t = 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05840" y="2560320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t = 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0" y="2560320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t = 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" y="2743200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3017520"/>
            <a:ext cx="2651760" cy="109728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Feature Tensor Map</a:t>
            </a:r>
            <a:br/>
            <a:r>
              <a:t>(Channels C x Time T x Joints V)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206240"/>
            <a:ext cx="2651760" cy="1097280"/>
          </a:xfrm>
          <a:prstGeom prst="rect">
            <a:avLst/>
          </a:prstGeom>
          <a:noFill/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850" b="0">
                <a:solidFill>
                  <a:srgbClr val="2C3E50"/>
                </a:solidFill>
                <a:latin typeface="Arial"/>
              </a:defRPr>
            </a:pPr>
            <a:r>
              <a:t>N : Batch Size</a:t>
            </a:r>
            <a:br/>
            <a:r>
              <a:t>C : Channel (Feature Dimension)</a:t>
            </a:r>
            <a:br/>
            <a:r>
              <a:t>T : Temporal Length (Frames)</a:t>
            </a:r>
            <a:br/>
            <a:r>
              <a:t>V : Number of Joints (Vertices)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394960"/>
            <a:ext cx="2651760" cy="1097280"/>
          </a:xfrm>
          <a:prstGeom prst="rect">
            <a:avLst/>
          </a:prstGeom>
          <a:noFill/>
          <a:ln w="1270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850" b="0">
                <a:solidFill>
                  <a:srgbClr val="2C3E50"/>
                </a:solidFill>
                <a:latin typeface="Arial"/>
              </a:defRPr>
            </a:pPr>
            <a:r>
              <a:t>Example (NTU RGB+D)</a:t>
            </a:r>
            <a:br/>
            <a:r>
              <a:t>N x 3 x 300 x 25</a:t>
            </a:r>
            <a:br/>
            <a:r>
              <a:t>(x, y, z coordinates)</a:t>
            </a:r>
            <a:br/>
            <a:r>
              <a:t>C = 3, T = 300, V = 25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200400" y="548640"/>
            <a:ext cx="2286000" cy="365760"/>
          </a:xfrm>
          <a:prstGeom prst="roundRect">
            <a:avLst/>
          </a:prstGeom>
          <a:noFill/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2C3E50"/>
                </a:solidFill>
                <a:latin typeface="Arial"/>
              </a:defRPr>
            </a:pPr>
            <a:r>
              <a:t>Data Normalization</a:t>
            </a:r>
            <a:br/>
            <a:r>
              <a:t>(Batch Normalization)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08960" y="1005840"/>
            <a:ext cx="2468880" cy="4206240"/>
          </a:xfrm>
          <a:prstGeom prst="roundRect">
            <a:avLst/>
          </a:prstGeom>
          <a:noFill/>
          <a:ln w="12700">
            <a:solidFill>
              <a:srgbClr val="95A5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200400" y="1097280"/>
            <a:ext cx="2286000" cy="1097280"/>
          </a:xfrm>
          <a:prstGeom prst="roundRect">
            <a:avLst/>
          </a:prstGeom>
          <a:noFill/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91840" y="114300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50" b="1">
                <a:solidFill>
                  <a:srgbClr val="2980B9"/>
                </a:solidFill>
                <a:latin typeface="Arial"/>
              </a:defRPr>
            </a:pPr>
            <a:r>
              <a:t>ST-GCN Block 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337560" y="1371600"/>
            <a:ext cx="2011680" cy="210312"/>
          </a:xfrm>
          <a:prstGeom prst="round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337560" y="1627632"/>
            <a:ext cx="2011680" cy="210312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337560" y="1883664"/>
            <a:ext cx="2011680" cy="210312"/>
          </a:xfrm>
          <a:prstGeom prst="roundRect">
            <a:avLst/>
          </a:prstGeom>
          <a:solidFill>
            <a:srgbClr val="F2F4F4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343400" y="2194560"/>
            <a:ext cx="0" cy="18288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4251960" y="2377440"/>
            <a:ext cx="182880" cy="182880"/>
          </a:xfrm>
          <a:prstGeom prst="ellipse">
            <a:avLst/>
          </a:prstGeom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343400" y="2560320"/>
            <a:ext cx="0" cy="18288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3200400" y="2743200"/>
            <a:ext cx="2286000" cy="1097280"/>
          </a:xfrm>
          <a:prstGeom prst="roundRect">
            <a:avLst/>
          </a:prstGeom>
          <a:noFill/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291840" y="278892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50" b="1">
                <a:solidFill>
                  <a:srgbClr val="2980B9"/>
                </a:solidFill>
                <a:latin typeface="Arial"/>
              </a:defRPr>
            </a:pPr>
            <a:r>
              <a:t>ST-GCN Block 2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337560" y="3017520"/>
            <a:ext cx="2011680" cy="210312"/>
          </a:xfrm>
          <a:prstGeom prst="round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337560" y="3273552"/>
            <a:ext cx="2011680" cy="210312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337560" y="3529584"/>
            <a:ext cx="2011680" cy="210312"/>
          </a:xfrm>
          <a:prstGeom prst="roundRect">
            <a:avLst/>
          </a:prstGeom>
          <a:solidFill>
            <a:srgbClr val="F2F4F4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343400" y="3840480"/>
            <a:ext cx="0" cy="137159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4251960" y="3977639"/>
            <a:ext cx="182880" cy="182880"/>
          </a:xfrm>
          <a:prstGeom prst="ellipse">
            <a:avLst/>
          </a:prstGeom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0" y="4160520"/>
            <a:ext cx="457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343400" y="4343400"/>
            <a:ext cx="0" cy="13716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3200400" y="4480560"/>
            <a:ext cx="2286000" cy="1097280"/>
          </a:xfrm>
          <a:prstGeom prst="roundRect">
            <a:avLst/>
          </a:prstGeom>
          <a:noFill/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291840" y="4526280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50" b="1">
                <a:solidFill>
                  <a:srgbClr val="2980B9"/>
                </a:solidFill>
                <a:latin typeface="Arial"/>
              </a:defRPr>
            </a:pPr>
            <a:r>
              <a:t>ST-GCN Block L (e.g., Block 9)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37560" y="4754880"/>
            <a:ext cx="2011680" cy="210312"/>
          </a:xfrm>
          <a:prstGeom prst="round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Spatial GCN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337560" y="5010912"/>
            <a:ext cx="2011680" cy="210312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Temporal Conv (TCN)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337560" y="5266944"/>
            <a:ext cx="2011680" cy="210312"/>
          </a:xfrm>
          <a:prstGeom prst="roundRect">
            <a:avLst/>
          </a:prstGeom>
          <a:solidFill>
            <a:srgbClr val="F2F4F4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Residual Connection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343400" y="5577840"/>
            <a:ext cx="0" cy="13716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200400" y="5715000"/>
            <a:ext cx="2286000" cy="274320"/>
          </a:xfrm>
          <a:prstGeom prst="roundRect">
            <a:avLst/>
          </a:prstGeom>
          <a:solidFill>
            <a:srgbClr val="EBDEF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Global Average Pooling (GAP)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343400" y="5989320"/>
            <a:ext cx="0" cy="9144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3200400" y="6080760"/>
            <a:ext cx="2286000" cy="27432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DC7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Fully Connected Layer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343400" y="6355080"/>
            <a:ext cx="0" cy="9144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3200400" y="6446520"/>
            <a:ext cx="2286000" cy="32004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D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Softmax Classifier</a:t>
            </a:r>
            <a:br/>
            <a:r>
              <a:t>(Action Classes)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760720" y="182880"/>
            <a:ext cx="6217920" cy="3017520"/>
          </a:xfrm>
          <a:prstGeom prst="roundRect">
            <a:avLst/>
          </a:prstGeom>
          <a:noFill/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852160" y="2286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100" b="1">
                <a:solidFill>
                  <a:srgbClr val="27AE60"/>
                </a:solidFill>
                <a:latin typeface="Arial"/>
              </a:defRPr>
            </a:pPr>
            <a:r>
              <a:t>Spatial GCN (Spatial Graph Convolution)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52160" y="548640"/>
            <a:ext cx="1280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Input</a:t>
            </a:r>
            <a:br/>
            <a:r>
              <a:t>(One Frame)</a:t>
            </a:r>
            <a:br/>
            <a:r>
              <a:t>X ∈ ℝ^(C_in × V)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492240" y="1554479.6"/>
            <a:ext cx="0" cy="0.19999999995343387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492240" y="1554479.8"/>
            <a:ext cx="0.15000000037252903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6492239.85" y="1554479.8"/>
            <a:ext cx="0.15000000037252903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492240.15" y="1554479.8"/>
            <a:ext cx="0.09999999962747097" cy="0.14999999990686774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492240.25" y="1554479.95"/>
            <a:ext cx="0.049999999813735485" cy="0.1500000001396984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6492239.75" y="1554479.8"/>
            <a:ext cx="0.09999999962747097" cy="0.14999999990686774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6492239.7" y="1554479.95"/>
            <a:ext cx="0.049999999813735485" cy="0.1500000001396984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492240" y="1554479.8"/>
            <a:ext cx="0" cy="0.30000000004656613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492240" y="1554480.1"/>
            <a:ext cx="0.09999999962747097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6492239.9" y="1554480.1"/>
            <a:ext cx="0.09999999962747097" cy="0.0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492240.1" y="1554480.1"/>
            <a:ext cx="0.02000000048428774" cy="0.19999999995343387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492240.12" y="1554480.3"/>
            <a:ext cx="0.03000000026077032" cy="0.19999999995343387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6492239.88" y="1554480.1"/>
            <a:ext cx="0.02000000048428774" cy="0.19999999995343387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6492239.85" y="1554480.3"/>
            <a:ext cx="0.03000000026077032" cy="0.19999999995343387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6464808" y="1527047"/>
            <a:ext cx="54864" cy="548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464808" y="15270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464808" y="15270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464807" y="15270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464808" y="15270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464807" y="1527047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464808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464807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464808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464808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464807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464808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464807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464808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464807" y="1527048"/>
            <a:ext cx="54864" cy="54864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7223760" y="1463040"/>
            <a:ext cx="274319" cy="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7589520" y="548640"/>
            <a:ext cx="16459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Human Skeleton Graph</a:t>
            </a:r>
            <a:br/>
            <a:r>
              <a:t>Adjacency Matrix A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772400" y="1097280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882127" y="1097280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991856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101583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211312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21040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430768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540496" y="109728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772400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882127" y="1207007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991856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101583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211312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321040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430768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540496" y="1207007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772400" y="131673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82127" y="131673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91856" y="131673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101583" y="131673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11312" y="131673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21040" y="131673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0768" y="131673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40496" y="131673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772400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882127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991856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101583" y="1426464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211312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21040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430768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540496" y="142646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772400" y="15361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882127" y="15361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991856" y="15361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101583" y="1536192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211312" y="1536192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321040" y="1536192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430768" y="15361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540496" y="15361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772400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882127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991856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101583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211312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321040" y="1645919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430768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540496" y="1645919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772400" y="17556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882127" y="17556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991856" y="17556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101583" y="17556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211312" y="17556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321040" y="175564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430768" y="175564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540496" y="175564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772400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882127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991856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101583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11312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21040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430768" y="186537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540496" y="186537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589520" y="2103120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50" b="0">
                <a:solidFill>
                  <a:srgbClr val="2C3E50"/>
                </a:solidFill>
                <a:latin typeface="Arial"/>
              </a:defRPr>
            </a:pPr>
            <a:r>
              <a:t>A_ij = 1 if neighbor or self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9326880" y="1463040"/>
            <a:ext cx="274320" cy="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ectangle 228"/>
          <p:cNvSpPr/>
          <p:nvPr/>
        </p:nvSpPr>
        <p:spPr>
          <a:xfrm>
            <a:off x="9692640" y="548640"/>
            <a:ext cx="11887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Graph Convolution</a:t>
            </a:r>
          </a:p>
        </p:txBody>
      </p:sp>
      <p:sp>
        <p:nvSpPr>
          <p:cNvPr id="230" name="Oval 229"/>
          <p:cNvSpPr/>
          <p:nvPr/>
        </p:nvSpPr>
        <p:spPr>
          <a:xfrm>
            <a:off x="10131552" y="1353312"/>
            <a:ext cx="219456" cy="21945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149840" y="1097280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50" b="1">
                <a:solidFill>
                  <a:srgbClr val="E74C3C"/>
                </a:solidFill>
                <a:latin typeface="Arial"/>
              </a:defRPr>
            </a:pPr>
            <a:r>
              <a:t>Center Joint i</a:t>
            </a:r>
          </a:p>
        </p:txBody>
      </p:sp>
      <p:sp>
        <p:nvSpPr>
          <p:cNvPr id="232" name="Oval 231"/>
          <p:cNvSpPr/>
          <p:nvPr/>
        </p:nvSpPr>
        <p:spPr>
          <a:xfrm>
            <a:off x="10524744" y="1380744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j_1</a:t>
            </a:r>
          </a:p>
        </p:txBody>
      </p:sp>
      <p:cxnSp>
        <p:nvCxnSpPr>
          <p:cNvPr id="233" name="Connector 232"/>
          <p:cNvCxnSpPr/>
          <p:nvPr/>
        </p:nvCxnSpPr>
        <p:spPr>
          <a:xfrm flipH="1">
            <a:off x="10314432" y="1463040"/>
            <a:ext cx="182879" cy="0"/>
          </a:xfrm>
          <a:prstGeom prst="line">
            <a:avLst/>
          </a:prstGeom>
          <a:ln w="1016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9884663" y="1655064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j_2</a:t>
            </a:r>
          </a:p>
        </p:txBody>
      </p:sp>
      <p:cxnSp>
        <p:nvCxnSpPr>
          <p:cNvPr id="235" name="Connector 234"/>
          <p:cNvCxnSpPr/>
          <p:nvPr/>
        </p:nvCxnSpPr>
        <p:spPr>
          <a:xfrm flipV="1">
            <a:off x="10049255" y="1517904"/>
            <a:ext cx="137160" cy="137160"/>
          </a:xfrm>
          <a:prstGeom prst="line">
            <a:avLst/>
          </a:prstGeom>
          <a:ln w="1016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/>
          <p:cNvSpPr/>
          <p:nvPr/>
        </p:nvSpPr>
        <p:spPr>
          <a:xfrm>
            <a:off x="9976104" y="1106424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j_3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10113263" y="1271016"/>
            <a:ext cx="91441" cy="137160"/>
          </a:xfrm>
          <a:prstGeom prst="line">
            <a:avLst/>
          </a:prstGeom>
          <a:ln w="1016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Oval 237"/>
          <p:cNvSpPr/>
          <p:nvPr/>
        </p:nvSpPr>
        <p:spPr>
          <a:xfrm>
            <a:off x="10341863" y="1060704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00" b="0">
                <a:solidFill>
                  <a:srgbClr val="2C3E50"/>
                </a:solidFill>
                <a:latin typeface="Arial"/>
              </a:defRPr>
            </a:pPr>
            <a:r>
              <a:t>j_4</a:t>
            </a:r>
          </a:p>
        </p:txBody>
      </p:sp>
      <p:cxnSp>
        <p:nvCxnSpPr>
          <p:cNvPr id="239" name="Connector 238"/>
          <p:cNvCxnSpPr/>
          <p:nvPr/>
        </p:nvCxnSpPr>
        <p:spPr>
          <a:xfrm flipH="1">
            <a:off x="10277855" y="1239012"/>
            <a:ext cx="91441" cy="160020"/>
          </a:xfrm>
          <a:prstGeom prst="line">
            <a:avLst/>
          </a:prstGeom>
          <a:ln w="1016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789920" y="1463040"/>
            <a:ext cx="274320" cy="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11064240" y="548640"/>
            <a:ext cx="8229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Output</a:t>
            </a:r>
            <a:br/>
            <a:r>
              <a:t>X' ∈ ℝ^(C_out × V)</a:t>
            </a:r>
          </a:p>
        </p:txBody>
      </p:sp>
      <p:sp>
        <p:nvSpPr>
          <p:cNvPr id="242" name="Oval 241"/>
          <p:cNvSpPr/>
          <p:nvPr/>
        </p:nvSpPr>
        <p:spPr>
          <a:xfrm>
            <a:off x="11338560" y="1097280"/>
            <a:ext cx="128016" cy="128016"/>
          </a:xfrm>
          <a:prstGeom prst="ellipse">
            <a:avLst/>
          </a:prstGeom>
          <a:noFill/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1338560" y="1325880"/>
            <a:ext cx="128016" cy="128016"/>
          </a:xfrm>
          <a:prstGeom prst="ellipse">
            <a:avLst/>
          </a:prstGeom>
          <a:noFill/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1338560" y="1554480"/>
            <a:ext cx="128016" cy="128016"/>
          </a:xfrm>
          <a:prstGeom prst="ellipse">
            <a:avLst/>
          </a:prstGeom>
          <a:noFill/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38560" y="1783080"/>
            <a:ext cx="128016" cy="128016"/>
          </a:xfrm>
          <a:prstGeom prst="ellipse">
            <a:avLst/>
          </a:prstGeom>
          <a:noFill/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6858000" y="2651760"/>
            <a:ext cx="4937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850" b="0">
                <a:solidFill>
                  <a:srgbClr val="27AE60"/>
                </a:solidFill>
                <a:latin typeface="Arial"/>
              </a:defRPr>
            </a:pPr>
            <a:r>
              <a:t>在同一帧内，根据骨架拓扑结构（邻接矩阵 A）聚合每个关节的邻居信息，学习空间依赖关系。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5760720" y="3383280"/>
            <a:ext cx="6217920" cy="2560320"/>
          </a:xfrm>
          <a:prstGeom prst="roundRect">
            <a:avLst/>
          </a:prstGeom>
          <a:noFill/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852160" y="3429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100" b="1">
                <a:solidFill>
                  <a:srgbClr val="E67E22"/>
                </a:solidFill>
                <a:latin typeface="Arial"/>
              </a:defRPr>
            </a:pPr>
            <a:r>
              <a:t>Temporal Conv (Temporal Convolution)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852160" y="3749039"/>
            <a:ext cx="1371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Input (One Joint)</a:t>
            </a:r>
            <a:br/>
            <a:r>
              <a:t>X ∈ ℝ^(C_in × T)</a:t>
            </a:r>
          </a:p>
        </p:txBody>
      </p:sp>
      <p:sp>
        <p:nvSpPr>
          <p:cNvPr id="250" name="Oval 249"/>
          <p:cNvSpPr/>
          <p:nvPr/>
        </p:nvSpPr>
        <p:spPr>
          <a:xfrm>
            <a:off x="59436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1722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64008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66294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8580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086600" y="4160520"/>
            <a:ext cx="18288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256" name="Oval 255"/>
          <p:cNvSpPr/>
          <p:nvPr/>
        </p:nvSpPr>
        <p:spPr>
          <a:xfrm>
            <a:off x="59436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722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4008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6294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8580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086600" y="4389120"/>
            <a:ext cx="18288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sp>
        <p:nvSpPr>
          <p:cNvPr id="262" name="Oval 261"/>
          <p:cNvSpPr/>
          <p:nvPr/>
        </p:nvSpPr>
        <p:spPr>
          <a:xfrm>
            <a:off x="59436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1722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008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6294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8580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086600" y="4617720"/>
            <a:ext cx="18288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...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7315200" y="4389120"/>
            <a:ext cx="182879" cy="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ectangle 268"/>
          <p:cNvSpPr/>
          <p:nvPr/>
        </p:nvSpPr>
        <p:spPr>
          <a:xfrm>
            <a:off x="7589520" y="3749039"/>
            <a:ext cx="1828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1D Convolution</a:t>
            </a:r>
            <a:br/>
            <a:r>
              <a:t>(On Time Dimension)</a:t>
            </a:r>
          </a:p>
        </p:txBody>
      </p:sp>
      <p:sp>
        <p:nvSpPr>
          <p:cNvPr id="270" name="Oval 269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04672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832104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595360" y="42062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777240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04672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832104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8595360" y="4434840"/>
            <a:ext cx="109728" cy="10972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7240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04672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32104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595360" y="4663440"/>
            <a:ext cx="109728" cy="1097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7726679" y="4160520"/>
            <a:ext cx="658368" cy="640080"/>
          </a:xfrm>
          <a:prstGeom prst="roundRect">
            <a:avLst/>
          </a:prstGeom>
          <a:noFill/>
          <a:ln w="1270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961120" y="4846320"/>
            <a:ext cx="914400" cy="2743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750" b="0">
                <a:solidFill>
                  <a:srgbClr val="2C3E50"/>
                </a:solidFill>
                <a:latin typeface="Arial"/>
              </a:defRPr>
            </a:pPr>
            <a:r>
              <a:t>Kernel Size = K_t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9966960" y="4389120"/>
            <a:ext cx="274320" cy="0"/>
          </a:xfrm>
          <a:prstGeom prst="line">
            <a:avLst/>
          </a:prstGeom>
          <a:ln w="127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ectangle 284"/>
          <p:cNvSpPr/>
          <p:nvPr/>
        </p:nvSpPr>
        <p:spPr>
          <a:xfrm>
            <a:off x="10332720" y="3749039"/>
            <a:ext cx="1371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Output</a:t>
            </a:r>
            <a:br/>
            <a:r>
              <a:t>X' ∈ ℝ^(C_out × T)</a:t>
            </a:r>
          </a:p>
        </p:txBody>
      </p:sp>
      <p:sp>
        <p:nvSpPr>
          <p:cNvPr id="286" name="Oval 285"/>
          <p:cNvSpPr/>
          <p:nvPr/>
        </p:nvSpPr>
        <p:spPr>
          <a:xfrm>
            <a:off x="10424160" y="42062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0698480" y="42062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0972800" y="42062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1247120" y="42062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0424160" y="44348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698480" y="44348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972800" y="44348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1247120" y="44348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0424160" y="46634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0698480" y="46634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0972800" y="46634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1247120" y="466344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ounded Rectangle 297"/>
          <p:cNvSpPr/>
          <p:nvPr/>
        </p:nvSpPr>
        <p:spPr>
          <a:xfrm>
            <a:off x="6858000" y="5486400"/>
            <a:ext cx="4937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850" b="0">
                <a:solidFill>
                  <a:srgbClr val="E67E22"/>
                </a:solidFill>
                <a:latin typeface="Arial"/>
              </a:defRPr>
            </a:pPr>
            <a:r>
              <a:t>在同一关节上，沿时间维度进行 1D 卷积，学习动作随时间变化的动态信息。</a:t>
            </a:r>
          </a:p>
        </p:txBody>
      </p:sp>
      <p:cxnSp>
        <p:nvCxnSpPr>
          <p:cNvPr id="299" name="Connector 298"/>
          <p:cNvCxnSpPr/>
          <p:nvPr/>
        </p:nvCxnSpPr>
        <p:spPr>
          <a:xfrm flipV="1">
            <a:off x="5029200" y="914400"/>
            <a:ext cx="731520" cy="27432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5029200" y="1554480"/>
            <a:ext cx="731520" cy="256032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